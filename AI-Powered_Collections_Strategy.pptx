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19197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jpe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57750" y="0"/>
            <a:ext cx="4286250" cy="5143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endParaRPr lang="en-US" dirty="0"/>
          </a:p>
        </p:txBody>
      </p:sp>
      <p:sp>
        <p:nvSpPr>
          <p:cNvPr id="4" name="Shape 1"/>
          <p:cNvSpPr/>
          <p:nvPr/>
        </p:nvSpPr>
        <p:spPr>
          <a:xfrm>
            <a:off x="714375" y="1285875"/>
            <a:ext cx="457200" cy="457200"/>
          </a:xfrm>
          <a:prstGeom prst="rect">
            <a:avLst/>
          </a:prstGeom>
          <a:solidFill>
            <a:srgbClr val="059669">
              <a:alpha val="5000"/>
            </a:srgbClr>
          </a:solidFill>
          <a:ln w="18288">
            <a:solidFill>
              <a:srgbClr val="059669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963" y="1414463"/>
            <a:ext cx="200025" cy="20002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14375" y="2028825"/>
            <a:ext cx="5715000" cy="8543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650" b="1" kern="0" spc="-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AI-Powered
Collections Strategy</a:t>
            </a:r>
            <a:endParaRPr lang="en-US" sz="2650" dirty="0"/>
          </a:p>
        </p:txBody>
      </p:sp>
      <p:sp>
        <p:nvSpPr>
          <p:cNvPr id="7" name="Text 3"/>
          <p:cNvSpPr/>
          <p:nvPr/>
        </p:nvSpPr>
        <p:spPr>
          <a:xfrm>
            <a:off x="714375" y="3247504"/>
            <a:ext cx="5000625" cy="5028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Leveraging Agentic AI for Scalable, Fair, and Effective Debt Management at Geldium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714375" y="4296966"/>
            <a:ext cx="1927920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Prepared by Tata iQ Analytics Team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2842320" y="4296966"/>
            <a:ext cx="1573913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Transformation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7188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-71437"/>
            <a:ext cx="8572500" cy="292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the System Works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707231" y="678656"/>
            <a:ext cx="1643063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b="1" kern="0" spc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COMPONENT 01</a:t>
            </a:r>
            <a:endParaRPr lang="en-US" sz="600" dirty="0"/>
          </a:p>
        </p:txBody>
      </p:sp>
      <p:sp>
        <p:nvSpPr>
          <p:cNvPr id="5" name="Shape 2"/>
          <p:cNvSpPr/>
          <p:nvPr/>
        </p:nvSpPr>
        <p:spPr>
          <a:xfrm>
            <a:off x="707231" y="864394"/>
            <a:ext cx="342900" cy="342900"/>
          </a:xfrm>
          <a:prstGeom prst="rect">
            <a:avLst/>
          </a:prstGeom>
          <a:solidFill>
            <a:srgbClr val="059669">
              <a:alpha val="6000"/>
            </a:srgbClr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030" y="957263"/>
            <a:ext cx="139303" cy="1571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07231" y="1293019"/>
            <a:ext cx="1643063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Pipeline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707231" y="1525191"/>
            <a:ext cx="164306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Ingests customer data: demographics, repayment history and transaction activity.</a:t>
            </a:r>
            <a:endParaRPr lang="en-US" sz="8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>
            <a:alphaModFix amt="35000"/>
          </a:blip>
          <a:stretch>
            <a:fillRect/>
          </a:stretch>
        </p:blipFill>
        <p:spPr>
          <a:xfrm>
            <a:off x="2507456" y="1301948"/>
            <a:ext cx="71438" cy="1143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736056" y="678656"/>
            <a:ext cx="1643063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b="1" kern="0" spc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COMPONENT 02</a:t>
            </a:r>
            <a:endParaRPr lang="en-US" sz="600" dirty="0"/>
          </a:p>
        </p:txBody>
      </p:sp>
      <p:sp>
        <p:nvSpPr>
          <p:cNvPr id="11" name="Shape 6"/>
          <p:cNvSpPr/>
          <p:nvPr/>
        </p:nvSpPr>
        <p:spPr>
          <a:xfrm>
            <a:off x="2736056" y="864394"/>
            <a:ext cx="342900" cy="342900"/>
          </a:xfrm>
          <a:prstGeom prst="rect">
            <a:avLst/>
          </a:prstGeom>
          <a:solidFill>
            <a:srgbClr val="059669">
              <a:alpha val="6000"/>
            </a:srgbClr>
          </a:solidFill>
          <a:ln/>
        </p:spPr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8925" y="957263"/>
            <a:ext cx="157163" cy="15716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736056" y="1293019"/>
            <a:ext cx="1643063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Decision Engine</a:t>
            </a:r>
            <a:endParaRPr lang="en-US" sz="1000" dirty="0"/>
          </a:p>
        </p:txBody>
      </p:sp>
      <p:sp>
        <p:nvSpPr>
          <p:cNvPr id="14" name="Text 8"/>
          <p:cNvSpPr/>
          <p:nvPr/>
        </p:nvSpPr>
        <p:spPr>
          <a:xfrm>
            <a:off x="2736056" y="1525191"/>
            <a:ext cx="164306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Uses Logistic Regression with business rules to decide the best action per customer.</a:t>
            </a:r>
            <a:endParaRPr lang="en-US" sz="8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>
            <a:alphaModFix amt="35000"/>
          </a:blip>
          <a:stretch>
            <a:fillRect/>
          </a:stretch>
        </p:blipFill>
        <p:spPr>
          <a:xfrm>
            <a:off x="4536281" y="1301948"/>
            <a:ext cx="71438" cy="1143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764881" y="678656"/>
            <a:ext cx="1643063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b="1" kern="0" spc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COMPONENT 03</a:t>
            </a:r>
            <a:endParaRPr lang="en-US" sz="600" dirty="0"/>
          </a:p>
        </p:txBody>
      </p:sp>
      <p:sp>
        <p:nvSpPr>
          <p:cNvPr id="17" name="Shape 10"/>
          <p:cNvSpPr/>
          <p:nvPr/>
        </p:nvSpPr>
        <p:spPr>
          <a:xfrm>
            <a:off x="4764881" y="864394"/>
            <a:ext cx="342900" cy="342900"/>
          </a:xfrm>
          <a:prstGeom prst="rect">
            <a:avLst/>
          </a:prstGeom>
          <a:solidFill>
            <a:srgbClr val="059669">
              <a:alpha val="6000"/>
            </a:srgbClr>
          </a:solidFill>
          <a:ln/>
        </p:spPr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7750" y="957263"/>
            <a:ext cx="157163" cy="157163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4764881" y="1293019"/>
            <a:ext cx="1643063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 Layer</a:t>
            </a:r>
            <a:endParaRPr lang="en-US" sz="1000" dirty="0"/>
          </a:p>
        </p:txBody>
      </p:sp>
      <p:sp>
        <p:nvSpPr>
          <p:cNvPr id="20" name="Text 12"/>
          <p:cNvSpPr/>
          <p:nvPr/>
        </p:nvSpPr>
        <p:spPr>
          <a:xfrm>
            <a:off x="4764881" y="1525191"/>
            <a:ext cx="164306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Executes targeted interventions: SMS, deferrals, interest tweaks or escalation.</a:t>
            </a:r>
            <a:endParaRPr lang="en-US" sz="80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5">
            <a:alphaModFix amt="35000"/>
          </a:blip>
          <a:stretch>
            <a:fillRect/>
          </a:stretch>
        </p:blipFill>
        <p:spPr>
          <a:xfrm>
            <a:off x="6565106" y="1301948"/>
            <a:ext cx="71438" cy="11430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6793706" y="678656"/>
            <a:ext cx="1643063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b="1" kern="0" spc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COMPONENT 04</a:t>
            </a:r>
            <a:endParaRPr lang="en-US" sz="600" dirty="0"/>
          </a:p>
        </p:txBody>
      </p:sp>
      <p:sp>
        <p:nvSpPr>
          <p:cNvPr id="23" name="Shape 14"/>
          <p:cNvSpPr/>
          <p:nvPr/>
        </p:nvSpPr>
        <p:spPr>
          <a:xfrm>
            <a:off x="6793706" y="864394"/>
            <a:ext cx="342900" cy="342900"/>
          </a:xfrm>
          <a:prstGeom prst="rect">
            <a:avLst/>
          </a:prstGeom>
          <a:solidFill>
            <a:srgbClr val="059669">
              <a:alpha val="6000"/>
            </a:srgbClr>
          </a:solidFill>
          <a:ln/>
        </p:spPr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86575" y="957263"/>
            <a:ext cx="157163" cy="157163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6793706" y="1293019"/>
            <a:ext cx="1643063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Learning Loop</a:t>
            </a:r>
            <a:endParaRPr lang="en-US" sz="1000" dirty="0"/>
          </a:p>
        </p:txBody>
      </p:sp>
      <p:sp>
        <p:nvSpPr>
          <p:cNvPr id="26" name="Text 16"/>
          <p:cNvSpPr/>
          <p:nvPr/>
        </p:nvSpPr>
        <p:spPr>
          <a:xfrm>
            <a:off x="6793706" y="1525191"/>
            <a:ext cx="164306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Monitors outcomes and feeds results back to refine future decisions.</a:t>
            </a:r>
            <a:endParaRPr lang="en-US" sz="800" dirty="0"/>
          </a:p>
        </p:txBody>
      </p:sp>
      <p:sp>
        <p:nvSpPr>
          <p:cNvPr id="27" name="Text 17"/>
          <p:cNvSpPr/>
          <p:nvPr/>
        </p:nvSpPr>
        <p:spPr>
          <a:xfrm>
            <a:off x="771525" y="2346722"/>
            <a:ext cx="3359014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Continuous cycle: Data → Decision → Action → Learning → Improved Data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7188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572500" cy="2643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Workflow: Data to Intelligent Action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578644" y="935831"/>
            <a:ext cx="1317017" cy="232172"/>
          </a:xfrm>
          <a:prstGeom prst="rect">
            <a:avLst/>
          </a:prstGeom>
          <a:solidFill>
            <a:srgbClr val="059669">
              <a:alpha val="6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664369" y="1012627"/>
            <a:ext cx="101743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50" b="1" kern="0" spc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5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549" y="996553"/>
            <a:ext cx="114300" cy="1143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64369" y="1225153"/>
            <a:ext cx="1145567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Ingestion</a:t>
            </a:r>
            <a:endParaRPr lang="en-US" sz="750" dirty="0"/>
          </a:p>
        </p:txBody>
      </p:sp>
      <p:sp>
        <p:nvSpPr>
          <p:cNvPr id="8" name="Text 4"/>
          <p:cNvSpPr/>
          <p:nvPr/>
        </p:nvSpPr>
        <p:spPr>
          <a:xfrm>
            <a:off x="664369" y="1389459"/>
            <a:ext cx="1145567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data flows from CRM, payment systems, and credit bureaus in real time.</a:t>
            </a:r>
            <a:endParaRPr lang="en-US" sz="6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>
            <a:off x="2035132" y="1014413"/>
            <a:ext cx="71438" cy="11430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2246040" y="935831"/>
            <a:ext cx="1317017" cy="232172"/>
          </a:xfrm>
          <a:prstGeom prst="rect">
            <a:avLst/>
          </a:prstGeom>
          <a:solidFill>
            <a:srgbClr val="059669">
              <a:alpha val="6000"/>
            </a:srgbClr>
          </a:solidFill>
          <a:ln/>
        </p:spPr>
      </p:sp>
      <p:sp>
        <p:nvSpPr>
          <p:cNvPr id="11" name="Text 6"/>
          <p:cNvSpPr/>
          <p:nvPr/>
        </p:nvSpPr>
        <p:spPr>
          <a:xfrm>
            <a:off x="2331765" y="1012627"/>
            <a:ext cx="101743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50" b="1" kern="0" spc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5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04945" y="996553"/>
            <a:ext cx="114300" cy="1143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331765" y="1225153"/>
            <a:ext cx="1145567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Scoring</a:t>
            </a:r>
            <a:endParaRPr lang="en-US" sz="750" dirty="0"/>
          </a:p>
        </p:txBody>
      </p:sp>
      <p:sp>
        <p:nvSpPr>
          <p:cNvPr id="14" name="Text 8"/>
          <p:cNvSpPr/>
          <p:nvPr/>
        </p:nvSpPr>
        <p:spPr>
          <a:xfrm>
            <a:off x="2331765" y="1389459"/>
            <a:ext cx="1145567" cy="696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Decision Engine assigns each customer a delinquency probability score (0-1) using Logistic Regression.</a:t>
            </a:r>
            <a:endParaRPr lang="en-US" sz="6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>
            <a:alphaModFix amt="50000"/>
          </a:blip>
          <a:stretch>
            <a:fillRect/>
          </a:stretch>
        </p:blipFill>
        <p:spPr>
          <a:xfrm>
            <a:off x="3702527" y="1014413"/>
            <a:ext cx="71438" cy="114300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3913436" y="935831"/>
            <a:ext cx="1317017" cy="232172"/>
          </a:xfrm>
          <a:prstGeom prst="rect">
            <a:avLst/>
          </a:prstGeom>
          <a:solidFill>
            <a:srgbClr val="059669">
              <a:alpha val="6000"/>
            </a:srgbClr>
          </a:solidFill>
          <a:ln/>
        </p:spPr>
      </p:sp>
      <p:sp>
        <p:nvSpPr>
          <p:cNvPr id="17" name="Text 10"/>
          <p:cNvSpPr/>
          <p:nvPr/>
        </p:nvSpPr>
        <p:spPr>
          <a:xfrm>
            <a:off x="3999161" y="1012627"/>
            <a:ext cx="101743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50" b="1" kern="0" spc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5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72341" y="996553"/>
            <a:ext cx="85725" cy="11430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3999161" y="1225153"/>
            <a:ext cx="1145567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 Triggering</a:t>
            </a:r>
            <a:endParaRPr lang="en-US" sz="750" dirty="0"/>
          </a:p>
        </p:txBody>
      </p:sp>
      <p:sp>
        <p:nvSpPr>
          <p:cNvPr id="20" name="Text 12"/>
          <p:cNvSpPr/>
          <p:nvPr/>
        </p:nvSpPr>
        <p:spPr>
          <a:xfrm>
            <a:off x="3999161" y="1389459"/>
            <a:ext cx="1145567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selects intervention: score &gt; 0.6 triggers hardship offer; 0.3-0.6 triggers reminder SMS.</a:t>
            </a:r>
            <a:endParaRPr lang="en-US" sz="65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7">
            <a:alphaModFix amt="50000"/>
          </a:blip>
          <a:stretch>
            <a:fillRect/>
          </a:stretch>
        </p:blipFill>
        <p:spPr>
          <a:xfrm>
            <a:off x="5369923" y="1014413"/>
            <a:ext cx="71438" cy="11430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5580831" y="935831"/>
            <a:ext cx="1317017" cy="232172"/>
          </a:xfrm>
          <a:prstGeom prst="rect">
            <a:avLst/>
          </a:prstGeom>
          <a:solidFill>
            <a:srgbClr val="059669">
              <a:alpha val="6000"/>
            </a:srgbClr>
          </a:solidFill>
          <a:ln/>
        </p:spPr>
      </p:sp>
      <p:sp>
        <p:nvSpPr>
          <p:cNvPr id="23" name="Text 14"/>
          <p:cNvSpPr/>
          <p:nvPr/>
        </p:nvSpPr>
        <p:spPr>
          <a:xfrm>
            <a:off x="5666556" y="1012627"/>
            <a:ext cx="101743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50" b="1" kern="0" spc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550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39737" y="996553"/>
            <a:ext cx="128588" cy="11430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5666556" y="1225153"/>
            <a:ext cx="1145567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Outcome Tracking</a:t>
            </a:r>
            <a:endParaRPr lang="en-US" sz="750" dirty="0"/>
          </a:p>
        </p:txBody>
      </p:sp>
      <p:sp>
        <p:nvSpPr>
          <p:cNvPr id="26" name="Text 16"/>
          <p:cNvSpPr/>
          <p:nvPr/>
        </p:nvSpPr>
        <p:spPr>
          <a:xfrm>
            <a:off x="5666556" y="1389459"/>
            <a:ext cx="1145567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Tracks whether customer responded positively (paid, engaged) or negatively (ignored, disputed).</a:t>
            </a:r>
            <a:endParaRPr lang="en-US" sz="650" dirty="0"/>
          </a:p>
        </p:txBody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10">
            <a:alphaModFix amt="50000"/>
          </a:blip>
          <a:stretch>
            <a:fillRect/>
          </a:stretch>
        </p:blipFill>
        <p:spPr>
          <a:xfrm>
            <a:off x="7037319" y="1014413"/>
            <a:ext cx="71438" cy="114300"/>
          </a:xfrm>
          <a:prstGeom prst="rect">
            <a:avLst/>
          </a:prstGeom>
        </p:spPr>
      </p:pic>
      <p:sp>
        <p:nvSpPr>
          <p:cNvPr id="28" name="Shape 17"/>
          <p:cNvSpPr/>
          <p:nvPr/>
        </p:nvSpPr>
        <p:spPr>
          <a:xfrm>
            <a:off x="7248227" y="935831"/>
            <a:ext cx="1317017" cy="232172"/>
          </a:xfrm>
          <a:prstGeom prst="rect">
            <a:avLst/>
          </a:prstGeom>
          <a:solidFill>
            <a:srgbClr val="059669">
              <a:alpha val="6000"/>
            </a:srgbClr>
          </a:solidFill>
          <a:ln/>
        </p:spPr>
      </p:sp>
      <p:sp>
        <p:nvSpPr>
          <p:cNvPr id="29" name="Text 18"/>
          <p:cNvSpPr/>
          <p:nvPr/>
        </p:nvSpPr>
        <p:spPr>
          <a:xfrm>
            <a:off x="7333952" y="1012627"/>
            <a:ext cx="101743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50" b="1" kern="0" spc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550" dirty="0"/>
          </a:p>
        </p:txBody>
      </p:sp>
      <p:pic>
        <p:nvPicPr>
          <p:cNvPr id="30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07132" y="996553"/>
            <a:ext cx="114300" cy="114300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7333952" y="1225153"/>
            <a:ext cx="1145567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 Refinement</a:t>
            </a:r>
            <a:endParaRPr lang="en-US" sz="750" dirty="0"/>
          </a:p>
        </p:txBody>
      </p:sp>
      <p:sp>
        <p:nvSpPr>
          <p:cNvPr id="32" name="Text 20"/>
          <p:cNvSpPr/>
          <p:nvPr/>
        </p:nvSpPr>
        <p:spPr>
          <a:xfrm>
            <a:off x="7333952" y="1389459"/>
            <a:ext cx="1145567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Outcomes fed back into Learning Loop to adjust thresholds and improve future predictions.</a:t>
            </a:r>
            <a:endParaRPr lang="en-US" sz="650" dirty="0"/>
          </a:p>
        </p:txBody>
      </p:sp>
      <p:sp>
        <p:nvSpPr>
          <p:cNvPr id="33" name="Shape 21"/>
          <p:cNvSpPr/>
          <p:nvPr/>
        </p:nvSpPr>
        <p:spPr>
          <a:xfrm>
            <a:off x="571500" y="2278856"/>
            <a:ext cx="80010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34" name="Text 22"/>
          <p:cNvSpPr/>
          <p:nvPr/>
        </p:nvSpPr>
        <p:spPr>
          <a:xfrm>
            <a:off x="700088" y="2364581"/>
            <a:ext cx="7743825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b="1" kern="0" spc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DIFFERENCE FROM TRADITIONAL SYSTEMS</a:t>
            </a:r>
            <a:endParaRPr lang="en-US" sz="600" dirty="0"/>
          </a:p>
        </p:txBody>
      </p:sp>
      <p:sp>
        <p:nvSpPr>
          <p:cNvPr id="35" name="Text 23"/>
          <p:cNvSpPr/>
          <p:nvPr/>
        </p:nvSpPr>
        <p:spPr>
          <a:xfrm>
            <a:off x="700088" y="2521744"/>
            <a:ext cx="77438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Traditional collections systems are passive — they generate reports for humans to act on. This Agentic AI system is autonomous: it scores risk, triggers actions, monitors outcomes, and self-improves — all without manual intervention.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7188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572500" cy="2643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 of Agentic AI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71500" y="828675"/>
            <a:ext cx="64293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system distinguishes between fully automated actions and those requiring human review, ensuring both efficiency and accountability.</a:t>
            </a:r>
            <a:endParaRPr lang="en-US" sz="850" dirty="0"/>
          </a:p>
        </p:txBody>
      </p:sp>
      <p:sp>
        <p:nvSpPr>
          <p:cNvPr id="5" name="Shape 2"/>
          <p:cNvSpPr/>
          <p:nvPr/>
        </p:nvSpPr>
        <p:spPr>
          <a:xfrm>
            <a:off x="575072" y="1346597"/>
            <a:ext cx="3996928" cy="264319"/>
          </a:xfrm>
          <a:prstGeom prst="rect">
            <a:avLst/>
          </a:prstGeom>
          <a:solidFill>
            <a:srgbClr val="059669">
              <a:alpha val="8000"/>
            </a:srgbClr>
          </a:solidFill>
          <a:ln w="9144">
            <a:solidFill>
              <a:srgbClr val="E2E8F0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372" y="1423392"/>
            <a:ext cx="128588" cy="10001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75109" y="1419820"/>
            <a:ext cx="123419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Autonomous (AI-Driven)</a:t>
            </a:r>
            <a:endParaRPr lang="en-US" sz="700" dirty="0"/>
          </a:p>
        </p:txBody>
      </p:sp>
      <p:sp>
        <p:nvSpPr>
          <p:cNvPr id="8" name="Shape 4"/>
          <p:cNvSpPr/>
          <p:nvPr/>
        </p:nvSpPr>
        <p:spPr>
          <a:xfrm>
            <a:off x="4572000" y="1346597"/>
            <a:ext cx="3996928" cy="264319"/>
          </a:xfrm>
          <a:prstGeom prst="rect">
            <a:avLst/>
          </a:prstGeom>
          <a:solidFill>
            <a:srgbClr val="0F172A">
              <a:alpha val="4000"/>
            </a:srgbClr>
          </a:solidFill>
          <a:ln w="9144">
            <a:solidFill>
              <a:srgbClr val="E2E8F0"/>
            </a:solidFill>
            <a:prstDash val="solid"/>
          </a:ln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6300" y="1418034"/>
            <a:ext cx="128588" cy="10001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872038" y="1414463"/>
            <a:ext cx="1380585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Human Oversight Required</a:t>
            </a:r>
            <a:endParaRPr lang="en-US" sz="700" dirty="0"/>
          </a:p>
        </p:txBody>
      </p:sp>
      <p:sp>
        <p:nvSpPr>
          <p:cNvPr id="11" name="Text 6"/>
          <p:cNvSpPr/>
          <p:nvPr/>
        </p:nvSpPr>
        <p:spPr>
          <a:xfrm>
            <a:off x="792956" y="1696641"/>
            <a:ext cx="1956829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Sending payment reminder SMS and emails</a:t>
            </a:r>
            <a:endParaRPr lang="en-US" sz="750" dirty="0"/>
          </a:p>
        </p:txBody>
      </p:sp>
      <p:sp>
        <p:nvSpPr>
          <p:cNvPr id="12" name="Text 7"/>
          <p:cNvSpPr/>
          <p:nvPr/>
        </p:nvSpPr>
        <p:spPr>
          <a:xfrm>
            <a:off x="4789884" y="1696641"/>
            <a:ext cx="2268308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Approving or denying hardship assistance requests</a:t>
            </a:r>
            <a:endParaRPr lang="en-US" sz="750" dirty="0"/>
          </a:p>
        </p:txBody>
      </p:sp>
      <p:sp>
        <p:nvSpPr>
          <p:cNvPr id="13" name="Shape 8"/>
          <p:cNvSpPr/>
          <p:nvPr/>
        </p:nvSpPr>
        <p:spPr>
          <a:xfrm>
            <a:off x="575072" y="1903809"/>
            <a:ext cx="7993856" cy="30003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4" name="Text 9"/>
          <p:cNvSpPr/>
          <p:nvPr/>
        </p:nvSpPr>
        <p:spPr>
          <a:xfrm>
            <a:off x="792956" y="1996678"/>
            <a:ext cx="2801969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Adjusting outreach timing based on customer behavior patterns</a:t>
            </a:r>
            <a:endParaRPr lang="en-US" sz="750" dirty="0"/>
          </a:p>
        </p:txBody>
      </p:sp>
      <p:sp>
        <p:nvSpPr>
          <p:cNvPr id="15" name="Text 10"/>
          <p:cNvSpPr/>
          <p:nvPr/>
        </p:nvSpPr>
        <p:spPr>
          <a:xfrm>
            <a:off x="4789884" y="1996678"/>
            <a:ext cx="1856705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Handling customer disputes or complaints</a:t>
            </a:r>
            <a:endParaRPr lang="en-US" sz="750" dirty="0"/>
          </a:p>
        </p:txBody>
      </p:sp>
      <p:sp>
        <p:nvSpPr>
          <p:cNvPr id="16" name="Text 11"/>
          <p:cNvSpPr/>
          <p:nvPr/>
        </p:nvSpPr>
        <p:spPr>
          <a:xfrm>
            <a:off x="792956" y="2296716"/>
            <a:ext cx="200661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Flagging high-risk accounts for priority review</a:t>
            </a:r>
            <a:endParaRPr lang="en-US" sz="750" dirty="0"/>
          </a:p>
        </p:txBody>
      </p:sp>
      <p:sp>
        <p:nvSpPr>
          <p:cNvPr id="17" name="Text 12"/>
          <p:cNvSpPr/>
          <p:nvPr/>
        </p:nvSpPr>
        <p:spPr>
          <a:xfrm>
            <a:off x="4789884" y="2296716"/>
            <a:ext cx="2401751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Reviewing edge cases or anomalous account patterns</a:t>
            </a:r>
            <a:endParaRPr lang="en-US" sz="750" dirty="0"/>
          </a:p>
        </p:txBody>
      </p:sp>
      <p:sp>
        <p:nvSpPr>
          <p:cNvPr id="18" name="Shape 13"/>
          <p:cNvSpPr/>
          <p:nvPr/>
        </p:nvSpPr>
        <p:spPr>
          <a:xfrm>
            <a:off x="575072" y="2503884"/>
            <a:ext cx="7993856" cy="30003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9" name="Text 14"/>
          <p:cNvSpPr/>
          <p:nvPr/>
        </p:nvSpPr>
        <p:spPr>
          <a:xfrm>
            <a:off x="792956" y="2596753"/>
            <a:ext cx="2815810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Escalating accounts with 5+ missed payments to human agents</a:t>
            </a:r>
            <a:endParaRPr lang="en-US" sz="750" dirty="0"/>
          </a:p>
        </p:txBody>
      </p:sp>
      <p:sp>
        <p:nvSpPr>
          <p:cNvPr id="20" name="Text 15"/>
          <p:cNvSpPr/>
          <p:nvPr/>
        </p:nvSpPr>
        <p:spPr>
          <a:xfrm>
            <a:off x="4789884" y="2596753"/>
            <a:ext cx="2334946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Final approval for account closure or legal escalation</a:t>
            </a:r>
            <a:endParaRPr lang="en-US" sz="750" dirty="0"/>
          </a:p>
        </p:txBody>
      </p:sp>
      <p:sp>
        <p:nvSpPr>
          <p:cNvPr id="21" name="Text 16"/>
          <p:cNvSpPr/>
          <p:nvPr/>
        </p:nvSpPr>
        <p:spPr>
          <a:xfrm>
            <a:off x="792956" y="2896791"/>
            <a:ext cx="2223381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Segmenting customers into risk tiers automatically</a:t>
            </a:r>
            <a:endParaRPr lang="en-US" sz="750" dirty="0"/>
          </a:p>
        </p:txBody>
      </p:sp>
      <p:sp>
        <p:nvSpPr>
          <p:cNvPr id="22" name="Text 17"/>
          <p:cNvSpPr/>
          <p:nvPr/>
        </p:nvSpPr>
        <p:spPr>
          <a:xfrm>
            <a:off x="4789884" y="2896791"/>
            <a:ext cx="2218079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Auditing the system for fairness and bias quarterly</a:t>
            </a:r>
            <a:endParaRPr lang="en-US" sz="750" dirty="0"/>
          </a:p>
        </p:txBody>
      </p:sp>
      <p:sp>
        <p:nvSpPr>
          <p:cNvPr id="23" name="Shape 18"/>
          <p:cNvSpPr/>
          <p:nvPr/>
        </p:nvSpPr>
        <p:spPr>
          <a:xfrm>
            <a:off x="571500" y="3250406"/>
            <a:ext cx="80010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714375" y="3336131"/>
            <a:ext cx="771525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b="1" kern="0" spc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 PRINCIPLE</a:t>
            </a:r>
            <a:endParaRPr lang="en-US" sz="600" dirty="0"/>
          </a:p>
        </p:txBody>
      </p:sp>
      <p:sp>
        <p:nvSpPr>
          <p:cNvPr id="25" name="Text 20"/>
          <p:cNvSpPr/>
          <p:nvPr/>
        </p:nvSpPr>
        <p:spPr>
          <a:xfrm>
            <a:off x="714375" y="3479006"/>
            <a:ext cx="771525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AI handles routine, high-volume outreach to maximize efficiency. Humans intervene only where decisions carry significant financial or legal consequences for the customer — ensuring responsible, accountable automation.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85750"/>
            <a:ext cx="8572500" cy="2643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Responsible AI Guardrails: Building Trust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650081" y="850106"/>
            <a:ext cx="285750" cy="285750"/>
          </a:xfrm>
          <a:prstGeom prst="rect">
            <a:avLst/>
          </a:prstGeom>
          <a:solidFill>
            <a:srgbClr val="059669">
              <a:alpha val="6000"/>
            </a:srgbClr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519" y="921544"/>
            <a:ext cx="142875" cy="14287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07269" y="917972"/>
            <a:ext cx="82895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Explainability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650081" y="1207294"/>
            <a:ext cx="3800475" cy="498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Using Logistic Regression ensures every decision can be traced to specific factors (e.g., DTI ratio and missed payments). For complex models, SHAP values provide feature-level explanations to business stakeholders.</a:t>
            </a:r>
            <a:endParaRPr lang="en-US" sz="800" dirty="0"/>
          </a:p>
        </p:txBody>
      </p:sp>
      <p:sp>
        <p:nvSpPr>
          <p:cNvPr id="8" name="Shape 4"/>
          <p:cNvSpPr/>
          <p:nvPr/>
        </p:nvSpPr>
        <p:spPr>
          <a:xfrm>
            <a:off x="4693444" y="850106"/>
            <a:ext cx="285750" cy="285750"/>
          </a:xfrm>
          <a:prstGeom prst="rect">
            <a:avLst/>
          </a:prstGeom>
          <a:solidFill>
            <a:srgbClr val="059669">
              <a:alpha val="6000"/>
            </a:srgbClr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7022" y="921544"/>
            <a:ext cx="178594" cy="14287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050631" y="917972"/>
            <a:ext cx="1517154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Fairness &amp; Bias Auditing</a:t>
            </a:r>
            <a:endParaRPr lang="en-US" sz="900" dirty="0"/>
          </a:p>
        </p:txBody>
      </p:sp>
      <p:sp>
        <p:nvSpPr>
          <p:cNvPr id="11" name="Text 6"/>
          <p:cNvSpPr/>
          <p:nvPr/>
        </p:nvSpPr>
        <p:spPr>
          <a:xfrm>
            <a:off x="4693444" y="1207294"/>
            <a:ext cx="3800475" cy="498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Quarterly audits check for disproportionate flagging of specific demographics. Proxy variables (like Location) are excluded. Techniques like re-weighting ensure underrepresented groups are treated fairly.</a:t>
            </a:r>
            <a:endParaRPr lang="en-US" sz="800" dirty="0"/>
          </a:p>
        </p:txBody>
      </p:sp>
      <p:sp>
        <p:nvSpPr>
          <p:cNvPr id="12" name="Shape 7"/>
          <p:cNvSpPr/>
          <p:nvPr/>
        </p:nvSpPr>
        <p:spPr>
          <a:xfrm>
            <a:off x="650081" y="1948458"/>
            <a:ext cx="285750" cy="285750"/>
          </a:xfrm>
          <a:prstGeom prst="rect">
            <a:avLst/>
          </a:prstGeom>
          <a:solidFill>
            <a:srgbClr val="059669">
              <a:alpha val="6000"/>
            </a:srgbClr>
          </a:solidFill>
          <a:ln/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1519" y="2019895"/>
            <a:ext cx="142875" cy="14287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07269" y="2016323"/>
            <a:ext cx="1436229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Regulatory Compliance</a:t>
            </a:r>
            <a:endParaRPr lang="en-US" sz="900" dirty="0"/>
          </a:p>
        </p:txBody>
      </p:sp>
      <p:sp>
        <p:nvSpPr>
          <p:cNvPr id="15" name="Text 9"/>
          <p:cNvSpPr/>
          <p:nvPr/>
        </p:nvSpPr>
        <p:spPr>
          <a:xfrm>
            <a:off x="650081" y="2305645"/>
            <a:ext cx="3800475" cy="498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system aligns with ECOA (no lending discrimination), GDPR (right to explanation), FCA (fair collections), and FCRA (accurate credit data). All automated decisions are logged with full audit trails.</a:t>
            </a:r>
            <a:endParaRPr lang="en-US" sz="800" dirty="0"/>
          </a:p>
        </p:txBody>
      </p:sp>
      <p:sp>
        <p:nvSpPr>
          <p:cNvPr id="16" name="Shape 10"/>
          <p:cNvSpPr/>
          <p:nvPr/>
        </p:nvSpPr>
        <p:spPr>
          <a:xfrm>
            <a:off x="4693444" y="1948458"/>
            <a:ext cx="285750" cy="285750"/>
          </a:xfrm>
          <a:prstGeom prst="rect">
            <a:avLst/>
          </a:prstGeom>
          <a:solidFill>
            <a:srgbClr val="059669">
              <a:alpha val="6000"/>
            </a:srgbClr>
          </a:solidFill>
          <a:ln/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47022" y="2019895"/>
            <a:ext cx="178594" cy="14287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050631" y="2016323"/>
            <a:ext cx="118563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Human-in-the-Loop</a:t>
            </a:r>
            <a:endParaRPr lang="en-US" sz="900" dirty="0"/>
          </a:p>
        </p:txBody>
      </p:sp>
      <p:sp>
        <p:nvSpPr>
          <p:cNvPr id="19" name="Text 12"/>
          <p:cNvSpPr/>
          <p:nvPr/>
        </p:nvSpPr>
        <p:spPr>
          <a:xfrm>
            <a:off x="4693444" y="2305645"/>
            <a:ext cx="3800475" cy="498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Any decision with significant financial impact—such as denying hardship assistance or closing an account—requires human approval. Edge cases and anomalies are automatically escalated for manual review.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7188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572500" cy="2643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Expected Business Impact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721519" y="1050131"/>
            <a:ext cx="285750" cy="285750"/>
          </a:xfrm>
          <a:prstGeom prst="rect">
            <a:avLst/>
          </a:prstGeom>
          <a:solidFill>
            <a:srgbClr val="059669">
              <a:alpha val="8000"/>
            </a:srgbClr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1128713"/>
            <a:ext cx="128588" cy="12858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92994" y="1112639"/>
            <a:ext cx="1564035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Quantitative Outcomes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878681" y="1485900"/>
            <a:ext cx="3471863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Reduce 30+ day delinquency rate from </a:t>
            </a:r>
            <a:r>
              <a:rPr lang="en-US" sz="7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16% to 12%</a:t>
            </a: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within 6 months of deployment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878681" y="1893094"/>
            <a:ext cx="3471863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Decrease cost-per-collection by </a:t>
            </a:r>
            <a:r>
              <a:rPr lang="en-US" sz="7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25%</a:t>
            </a: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through automated, targeted outreach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878681" y="2300288"/>
            <a:ext cx="3430898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Increase repayment recovery rate by </a:t>
            </a:r>
            <a:r>
              <a:rPr lang="en-US" sz="7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15%</a:t>
            </a: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through proactive intervention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878681" y="2546747"/>
            <a:ext cx="3471863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Achieve </a:t>
            </a:r>
            <a:r>
              <a:rPr lang="en-US" sz="7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40% reduction</a:t>
            </a: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in manual case handling through autonomous AI actions</a:t>
            </a:r>
            <a:endParaRPr lang="en-US" sz="800" dirty="0"/>
          </a:p>
        </p:txBody>
      </p:sp>
      <p:sp>
        <p:nvSpPr>
          <p:cNvPr id="11" name="Shape 7"/>
          <p:cNvSpPr/>
          <p:nvPr/>
        </p:nvSpPr>
        <p:spPr>
          <a:xfrm>
            <a:off x="4793456" y="1050131"/>
            <a:ext cx="285750" cy="285750"/>
          </a:xfrm>
          <a:prstGeom prst="rect">
            <a:avLst/>
          </a:prstGeom>
          <a:solidFill>
            <a:srgbClr val="059669">
              <a:alpha val="8000"/>
            </a:srgbClr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5964" y="1128713"/>
            <a:ext cx="160734" cy="12858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164931" y="1112639"/>
            <a:ext cx="1468878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Qualitative Outcomes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4950619" y="1485900"/>
            <a:ext cx="3471863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Improved customer trust</a:t>
            </a: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through proactive, empathetic outreach (hardship plans before aggressive collections)</a:t>
            </a:r>
            <a:endParaRPr lang="en-US" sz="750" dirty="0"/>
          </a:p>
        </p:txBody>
      </p:sp>
      <p:sp>
        <p:nvSpPr>
          <p:cNvPr id="15" name="Text 10"/>
          <p:cNvSpPr/>
          <p:nvPr/>
        </p:nvSpPr>
        <p:spPr>
          <a:xfrm>
            <a:off x="4950619" y="1893094"/>
            <a:ext cx="3471863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Enhanced fairness</a:t>
            </a: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through regular bias auditing and transparent, explainable decision-making</a:t>
            </a:r>
            <a:endParaRPr lang="en-US" sz="750" dirty="0"/>
          </a:p>
        </p:txBody>
      </p:sp>
      <p:sp>
        <p:nvSpPr>
          <p:cNvPr id="16" name="Text 11"/>
          <p:cNvSpPr/>
          <p:nvPr/>
        </p:nvSpPr>
        <p:spPr>
          <a:xfrm>
            <a:off x="4950619" y="2300288"/>
            <a:ext cx="3471863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Scalability</a:t>
            </a: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the system handles 10x customer volume without proportional staffing increases</a:t>
            </a:r>
            <a:endParaRPr lang="en-US" sz="750" dirty="0"/>
          </a:p>
        </p:txBody>
      </p:sp>
      <p:sp>
        <p:nvSpPr>
          <p:cNvPr id="17" name="Text 12"/>
          <p:cNvSpPr/>
          <p:nvPr/>
        </p:nvSpPr>
        <p:spPr>
          <a:xfrm>
            <a:off x="4950619" y="2707481"/>
            <a:ext cx="3471863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Regulatory compliance</a:t>
            </a: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full audit trails for every automated decision, aligned with ECOA and GDPR</a:t>
            </a:r>
            <a:endParaRPr lang="en-US" sz="750" dirty="0"/>
          </a:p>
        </p:txBody>
      </p:sp>
      <p:sp>
        <p:nvSpPr>
          <p:cNvPr id="18" name="Text 13"/>
          <p:cNvSpPr/>
          <p:nvPr/>
        </p:nvSpPr>
        <p:spPr>
          <a:xfrm>
            <a:off x="571500" y="3193256"/>
            <a:ext cx="8001000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AI-powered system transforms Geldium's collections from reactive and manual to proactive, personalized, and self-improving.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673</Words>
  <Application>Microsoft Office PowerPoint</Application>
  <PresentationFormat>On-screen Show (16:9)</PresentationFormat>
  <Paragraphs>79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Shruti Baghel</cp:lastModifiedBy>
  <cp:revision>1</cp:revision>
  <dcterms:created xsi:type="dcterms:W3CDTF">2026-07-24T19:10:33Z</dcterms:created>
  <dcterms:modified xsi:type="dcterms:W3CDTF">2026-07-25T10:39:50Z</dcterms:modified>
</cp:coreProperties>
</file>